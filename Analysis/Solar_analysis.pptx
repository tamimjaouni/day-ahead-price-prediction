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6" r:id="rId3"/>
    <p:sldId id="257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CEBFF"/>
    <a:srgbClr val="E1E1E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9E9B350-E22C-443E-B337-C6EE4273F6AE}" v="678" dt="2025-11-09T12:54:48.35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21" autoAdjust="0"/>
    <p:restoredTop sz="95036" autoAdjust="0"/>
  </p:normalViewPr>
  <p:slideViewPr>
    <p:cSldViewPr snapToGrid="0">
      <p:cViewPr varScale="1">
        <p:scale>
          <a:sx n="97" d="100"/>
          <a:sy n="97" d="100"/>
        </p:scale>
        <p:origin x="1110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mim Jaouni" userId="5a1e722342cbadd1" providerId="LiveId" clId="{8276BCC8-02B6-48C6-8F25-7073731F431B}"/>
    <pc:docChg chg="undo custSel addSld modSld sldOrd">
      <pc:chgData name="Tamim Jaouni" userId="5a1e722342cbadd1" providerId="LiveId" clId="{8276BCC8-02B6-48C6-8F25-7073731F431B}" dt="2025-11-15T09:32:49.655" v="2654" actId="1076"/>
      <pc:docMkLst>
        <pc:docMk/>
      </pc:docMkLst>
      <pc:sldChg chg="addSp delSp modSp mod setBg">
        <pc:chgData name="Tamim Jaouni" userId="5a1e722342cbadd1" providerId="LiveId" clId="{8276BCC8-02B6-48C6-8F25-7073731F431B}" dt="2025-11-09T12:55:00.835" v="2653" actId="14100"/>
        <pc:sldMkLst>
          <pc:docMk/>
          <pc:sldMk cId="2610320140" sldId="256"/>
        </pc:sldMkLst>
        <pc:spChg chg="add mod">
          <ac:chgData name="Tamim Jaouni" userId="5a1e722342cbadd1" providerId="LiveId" clId="{8276BCC8-02B6-48C6-8F25-7073731F431B}" dt="2025-11-09T09:53:01.440" v="2560" actId="1076"/>
          <ac:spMkLst>
            <pc:docMk/>
            <pc:sldMk cId="2610320140" sldId="256"/>
            <ac:spMk id="2" creationId="{0ACEBEB6-0343-97BD-5A75-C61460DB0B8E}"/>
          </ac:spMkLst>
        </pc:spChg>
        <pc:spChg chg="add mod">
          <ac:chgData name="Tamim Jaouni" userId="5a1e722342cbadd1" providerId="LiveId" clId="{8276BCC8-02B6-48C6-8F25-7073731F431B}" dt="2025-11-09T09:24:43" v="2001" actId="14100"/>
          <ac:spMkLst>
            <pc:docMk/>
            <pc:sldMk cId="2610320140" sldId="256"/>
            <ac:spMk id="11" creationId="{C34C4CA8-47F5-6459-DAA8-61027EDD82D5}"/>
          </ac:spMkLst>
        </pc:spChg>
        <pc:spChg chg="add mod">
          <ac:chgData name="Tamim Jaouni" userId="5a1e722342cbadd1" providerId="LiveId" clId="{8276BCC8-02B6-48C6-8F25-7073731F431B}" dt="2025-11-09T09:36:45.218" v="2226" actId="1076"/>
          <ac:spMkLst>
            <pc:docMk/>
            <pc:sldMk cId="2610320140" sldId="256"/>
            <ac:spMk id="12" creationId="{EF6E4F15-8C98-9B38-22DF-B91C5177A3B5}"/>
          </ac:spMkLst>
        </pc:spChg>
        <pc:spChg chg="add mod">
          <ac:chgData name="Tamim Jaouni" userId="5a1e722342cbadd1" providerId="LiveId" clId="{8276BCC8-02B6-48C6-8F25-7073731F431B}" dt="2025-11-09T09:38:20.374" v="2231" actId="1076"/>
          <ac:spMkLst>
            <pc:docMk/>
            <pc:sldMk cId="2610320140" sldId="256"/>
            <ac:spMk id="23" creationId="{3133120F-1B1F-2880-F41B-F6FA9104B292}"/>
          </ac:spMkLst>
        </pc:spChg>
        <pc:graphicFrameChg chg="add mod">
          <ac:chgData name="Tamim Jaouni" userId="5a1e722342cbadd1" providerId="LiveId" clId="{8276BCC8-02B6-48C6-8F25-7073731F431B}" dt="2025-11-09T12:54:51.262" v="2649" actId="14100"/>
          <ac:graphicFrameMkLst>
            <pc:docMk/>
            <pc:sldMk cId="2610320140" sldId="256"/>
            <ac:graphicFrameMk id="4" creationId="{29719B3B-26A4-DE27-F5AF-182348E1AA5D}"/>
          </ac:graphicFrameMkLst>
        </pc:graphicFrameChg>
        <pc:graphicFrameChg chg="add mod">
          <ac:chgData name="Tamim Jaouni" userId="5a1e722342cbadd1" providerId="LiveId" clId="{8276BCC8-02B6-48C6-8F25-7073731F431B}" dt="2025-11-09T12:55:00.835" v="2653" actId="14100"/>
          <ac:graphicFrameMkLst>
            <pc:docMk/>
            <pc:sldMk cId="2610320140" sldId="256"/>
            <ac:graphicFrameMk id="5" creationId="{D8346A23-29A0-307C-86FC-98AC7FBA46C9}"/>
          </ac:graphicFrameMkLst>
        </pc:graphicFrameChg>
        <pc:cxnChg chg="add mod">
          <ac:chgData name="Tamim Jaouni" userId="5a1e722342cbadd1" providerId="LiveId" clId="{8276BCC8-02B6-48C6-8F25-7073731F431B}" dt="2025-11-09T09:54:22.143" v="2587" actId="1076"/>
          <ac:cxnSpMkLst>
            <pc:docMk/>
            <pc:sldMk cId="2610320140" sldId="256"/>
            <ac:cxnSpMk id="14" creationId="{929CC951-7DC7-3EBB-FF5F-A46D2CC47136}"/>
          </ac:cxnSpMkLst>
        </pc:cxnChg>
        <pc:cxnChg chg="add mod">
          <ac:chgData name="Tamim Jaouni" userId="5a1e722342cbadd1" providerId="LiveId" clId="{8276BCC8-02B6-48C6-8F25-7073731F431B}" dt="2025-11-09T09:54:22.143" v="2587" actId="1076"/>
          <ac:cxnSpMkLst>
            <pc:docMk/>
            <pc:sldMk cId="2610320140" sldId="256"/>
            <ac:cxnSpMk id="15" creationId="{5DD1274D-8D7C-38AB-74A8-1471906D1647}"/>
          </ac:cxnSpMkLst>
        </pc:cxnChg>
        <pc:cxnChg chg="add mod">
          <ac:chgData name="Tamim Jaouni" userId="5a1e722342cbadd1" providerId="LiveId" clId="{8276BCC8-02B6-48C6-8F25-7073731F431B}" dt="2025-11-09T09:55:15.087" v="2594" actId="1076"/>
          <ac:cxnSpMkLst>
            <pc:docMk/>
            <pc:sldMk cId="2610320140" sldId="256"/>
            <ac:cxnSpMk id="22" creationId="{86208B88-7820-5C29-99BC-78682B4D0EEF}"/>
          </ac:cxnSpMkLst>
        </pc:cxnChg>
      </pc:sldChg>
      <pc:sldChg chg="addSp delSp modSp new mod setBg">
        <pc:chgData name="Tamim Jaouni" userId="5a1e722342cbadd1" providerId="LiveId" clId="{8276BCC8-02B6-48C6-8F25-7073731F431B}" dt="2025-11-09T09:58:55.188" v="2641" actId="14100"/>
        <pc:sldMkLst>
          <pc:docMk/>
          <pc:sldMk cId="2028448846" sldId="257"/>
        </pc:sldMkLst>
        <pc:spChg chg="add mod">
          <ac:chgData name="Tamim Jaouni" userId="5a1e722342cbadd1" providerId="LiveId" clId="{8276BCC8-02B6-48C6-8F25-7073731F431B}" dt="2025-11-09T09:49:25.501" v="2515" actId="1076"/>
          <ac:spMkLst>
            <pc:docMk/>
            <pc:sldMk cId="2028448846" sldId="257"/>
            <ac:spMk id="4" creationId="{DE68CF4A-8303-3B5E-0BF2-0A42CD121534}"/>
          </ac:spMkLst>
        </pc:spChg>
        <pc:spChg chg="add mod">
          <ac:chgData name="Tamim Jaouni" userId="5a1e722342cbadd1" providerId="LiveId" clId="{8276BCC8-02B6-48C6-8F25-7073731F431B}" dt="2025-11-09T09:49:12.231" v="2510" actId="1076"/>
          <ac:spMkLst>
            <pc:docMk/>
            <pc:sldMk cId="2028448846" sldId="257"/>
            <ac:spMk id="5" creationId="{FB935025-3B71-AFD8-C09A-7BA404DB93CB}"/>
          </ac:spMkLst>
        </pc:spChg>
        <pc:spChg chg="add mod">
          <ac:chgData name="Tamim Jaouni" userId="5a1e722342cbadd1" providerId="LiveId" clId="{8276BCC8-02B6-48C6-8F25-7073731F431B}" dt="2025-11-09T09:49:40.567" v="2517" actId="1076"/>
          <ac:spMkLst>
            <pc:docMk/>
            <pc:sldMk cId="2028448846" sldId="257"/>
            <ac:spMk id="6" creationId="{15F3707C-267A-27A5-B19F-D787F38F03FF}"/>
          </ac:spMkLst>
        </pc:spChg>
        <pc:spChg chg="add mod">
          <ac:chgData name="Tamim Jaouni" userId="5a1e722342cbadd1" providerId="LiveId" clId="{8276BCC8-02B6-48C6-8F25-7073731F431B}" dt="2025-11-09T09:49:40.567" v="2517" actId="1076"/>
          <ac:spMkLst>
            <pc:docMk/>
            <pc:sldMk cId="2028448846" sldId="257"/>
            <ac:spMk id="13" creationId="{48D47964-E2FD-03C2-2649-F80BDE69DA45}"/>
          </ac:spMkLst>
        </pc:spChg>
        <pc:spChg chg="add mod">
          <ac:chgData name="Tamim Jaouni" userId="5a1e722342cbadd1" providerId="LiveId" clId="{8276BCC8-02B6-48C6-8F25-7073731F431B}" dt="2025-11-09T09:50:06.875" v="2522" actId="20577"/>
          <ac:spMkLst>
            <pc:docMk/>
            <pc:sldMk cId="2028448846" sldId="257"/>
            <ac:spMk id="14" creationId="{A6C845CC-D74D-0415-1609-FCE61478BDFC}"/>
          </ac:spMkLst>
        </pc:spChg>
        <pc:spChg chg="add mod">
          <ac:chgData name="Tamim Jaouni" userId="5a1e722342cbadd1" providerId="LiveId" clId="{8276BCC8-02B6-48C6-8F25-7073731F431B}" dt="2025-11-09T09:50:09.540" v="2525" actId="20577"/>
          <ac:spMkLst>
            <pc:docMk/>
            <pc:sldMk cId="2028448846" sldId="257"/>
            <ac:spMk id="15" creationId="{B2F0DFB3-11B1-6BE3-F40F-2AC8510DDA15}"/>
          </ac:spMkLst>
        </pc:spChg>
        <pc:graphicFrameChg chg="add mod">
          <ac:chgData name="Tamim Jaouni" userId="5a1e722342cbadd1" providerId="LiveId" clId="{8276BCC8-02B6-48C6-8F25-7073731F431B}" dt="2025-11-09T09:56:18.863" v="2610" actId="1076"/>
          <ac:graphicFrameMkLst>
            <pc:docMk/>
            <pc:sldMk cId="2028448846" sldId="257"/>
            <ac:graphicFrameMk id="7" creationId="{5E19F2EB-361D-A235-4EE1-1980A56CC51C}"/>
          </ac:graphicFrameMkLst>
        </pc:graphicFrameChg>
        <pc:graphicFrameChg chg="add mod">
          <ac:chgData name="Tamim Jaouni" userId="5a1e722342cbadd1" providerId="LiveId" clId="{8276BCC8-02B6-48C6-8F25-7073731F431B}" dt="2025-11-09T09:58:46.794" v="2638"/>
          <ac:graphicFrameMkLst>
            <pc:docMk/>
            <pc:sldMk cId="2028448846" sldId="257"/>
            <ac:graphicFrameMk id="10" creationId="{2840C193-E4BC-34E8-F5EA-93628A7AD73F}"/>
          </ac:graphicFrameMkLst>
        </pc:graphicFrameChg>
        <pc:cxnChg chg="add mod">
          <ac:chgData name="Tamim Jaouni" userId="5a1e722342cbadd1" providerId="LiveId" clId="{8276BCC8-02B6-48C6-8F25-7073731F431B}" dt="2025-11-09T09:58:52.472" v="2640" actId="14100"/>
          <ac:cxnSpMkLst>
            <pc:docMk/>
            <pc:sldMk cId="2028448846" sldId="257"/>
            <ac:cxnSpMk id="17" creationId="{DDA933B8-6D77-AAE7-2545-7EA119837FF4}"/>
          </ac:cxnSpMkLst>
        </pc:cxnChg>
        <pc:cxnChg chg="add mod">
          <ac:chgData name="Tamim Jaouni" userId="5a1e722342cbadd1" providerId="LiveId" clId="{8276BCC8-02B6-48C6-8F25-7073731F431B}" dt="2025-11-09T09:58:55.188" v="2641" actId="14100"/>
          <ac:cxnSpMkLst>
            <pc:docMk/>
            <pc:sldMk cId="2028448846" sldId="257"/>
            <ac:cxnSpMk id="23" creationId="{30299460-6308-5904-7A10-E55A74790C40}"/>
          </ac:cxnSpMkLst>
        </pc:cxnChg>
      </pc:sldChg>
      <pc:sldChg chg="addSp delSp modSp new mod ord setBg">
        <pc:chgData name="Tamim Jaouni" userId="5a1e722342cbadd1" providerId="LiveId" clId="{8276BCC8-02B6-48C6-8F25-7073731F431B}" dt="2025-11-15T09:32:49.655" v="2654" actId="1076"/>
        <pc:sldMkLst>
          <pc:docMk/>
          <pc:sldMk cId="3031978715" sldId="258"/>
        </pc:sldMkLst>
        <pc:spChg chg="add mod">
          <ac:chgData name="Tamim Jaouni" userId="5a1e722342cbadd1" providerId="LiveId" clId="{8276BCC8-02B6-48C6-8F25-7073731F431B}" dt="2025-11-08T22:14:35.857" v="1165" actId="1076"/>
          <ac:spMkLst>
            <pc:docMk/>
            <pc:sldMk cId="3031978715" sldId="258"/>
            <ac:spMk id="6" creationId="{916C4180-4EF8-B3DD-0E7B-4C4D7229107D}"/>
          </ac:spMkLst>
        </pc:spChg>
        <pc:spChg chg="add mod">
          <ac:chgData name="Tamim Jaouni" userId="5a1e722342cbadd1" providerId="LiveId" clId="{8276BCC8-02B6-48C6-8F25-7073731F431B}" dt="2025-11-15T09:32:49.655" v="2654" actId="1076"/>
          <ac:spMkLst>
            <pc:docMk/>
            <pc:sldMk cId="3031978715" sldId="258"/>
            <ac:spMk id="7" creationId="{21FF8FC5-4362-EF6D-3F08-FEB7726F549F}"/>
          </ac:spMkLst>
        </pc:spChg>
        <pc:spChg chg="add mod">
          <ac:chgData name="Tamim Jaouni" userId="5a1e722342cbadd1" providerId="LiveId" clId="{8276BCC8-02B6-48C6-8F25-7073731F431B}" dt="2025-11-08T22:08:11.119" v="1065" actId="1076"/>
          <ac:spMkLst>
            <pc:docMk/>
            <pc:sldMk cId="3031978715" sldId="258"/>
            <ac:spMk id="8" creationId="{A6494BD0-0817-2512-EB82-6C808E6A6C3B}"/>
          </ac:spMkLst>
        </pc:spChg>
        <pc:spChg chg="add mod">
          <ac:chgData name="Tamim Jaouni" userId="5a1e722342cbadd1" providerId="LiveId" clId="{8276BCC8-02B6-48C6-8F25-7073731F431B}" dt="2025-11-08T22:24:23.540" v="1303" actId="113"/>
          <ac:spMkLst>
            <pc:docMk/>
            <pc:sldMk cId="3031978715" sldId="258"/>
            <ac:spMk id="9" creationId="{1333B521-E3BF-5124-C08A-5D035ADA3278}"/>
          </ac:spMkLst>
        </pc:spChg>
        <pc:spChg chg="add mod">
          <ac:chgData name="Tamim Jaouni" userId="5a1e722342cbadd1" providerId="LiveId" clId="{8276BCC8-02B6-48C6-8F25-7073731F431B}" dt="2025-11-08T22:24:00.421" v="1298" actId="1076"/>
          <ac:spMkLst>
            <pc:docMk/>
            <pc:sldMk cId="3031978715" sldId="258"/>
            <ac:spMk id="11" creationId="{AC7BFB75-5723-497F-CE58-46ED909B7432}"/>
          </ac:spMkLst>
        </pc:spChg>
        <pc:spChg chg="add mod">
          <ac:chgData name="Tamim Jaouni" userId="5a1e722342cbadd1" providerId="LiveId" clId="{8276BCC8-02B6-48C6-8F25-7073731F431B}" dt="2025-11-08T22:23:57.259" v="1296" actId="1076"/>
          <ac:spMkLst>
            <pc:docMk/>
            <pc:sldMk cId="3031978715" sldId="258"/>
            <ac:spMk id="12" creationId="{7846B5C7-F606-DA9C-FB8E-3F4B6A8C4C2D}"/>
          </ac:spMkLst>
        </pc:spChg>
        <pc:spChg chg="add mod ord">
          <ac:chgData name="Tamim Jaouni" userId="5a1e722342cbadd1" providerId="LiveId" clId="{8276BCC8-02B6-48C6-8F25-7073731F431B}" dt="2025-11-08T22:14:18.080" v="1164" actId="207"/>
          <ac:spMkLst>
            <pc:docMk/>
            <pc:sldMk cId="3031978715" sldId="258"/>
            <ac:spMk id="28" creationId="{60B5E544-0D77-2D7B-7448-E964CD64F476}"/>
          </ac:spMkLst>
        </pc:spChg>
        <pc:spChg chg="add mod">
          <ac:chgData name="Tamim Jaouni" userId="5a1e722342cbadd1" providerId="LiveId" clId="{8276BCC8-02B6-48C6-8F25-7073731F431B}" dt="2025-11-08T22:24:03.374" v="1299" actId="1076"/>
          <ac:spMkLst>
            <pc:docMk/>
            <pc:sldMk cId="3031978715" sldId="258"/>
            <ac:spMk id="29" creationId="{A75DBB53-BEB1-C8C0-0FD4-80410F809BA1}"/>
          </ac:spMkLst>
        </pc:spChg>
        <pc:spChg chg="add mod">
          <ac:chgData name="Tamim Jaouni" userId="5a1e722342cbadd1" providerId="LiveId" clId="{8276BCC8-02B6-48C6-8F25-7073731F431B}" dt="2025-11-08T22:28:35.079" v="1313" actId="1076"/>
          <ac:spMkLst>
            <pc:docMk/>
            <pc:sldMk cId="3031978715" sldId="258"/>
            <ac:spMk id="31" creationId="{B2979592-2A9B-3713-0770-B1377727AFF2}"/>
          </ac:spMkLst>
        </pc:spChg>
        <pc:spChg chg="add mod">
          <ac:chgData name="Tamim Jaouni" userId="5a1e722342cbadd1" providerId="LiveId" clId="{8276BCC8-02B6-48C6-8F25-7073731F431B}" dt="2025-11-08T22:24:18.360" v="1302" actId="113"/>
          <ac:spMkLst>
            <pc:docMk/>
            <pc:sldMk cId="3031978715" sldId="258"/>
            <ac:spMk id="35" creationId="{B8876C23-8CE3-BAB2-DF5A-51C0C050D013}"/>
          </ac:spMkLst>
        </pc:spChg>
        <pc:picChg chg="add mod ord">
          <ac:chgData name="Tamim Jaouni" userId="5a1e722342cbadd1" providerId="LiveId" clId="{8276BCC8-02B6-48C6-8F25-7073731F431B}" dt="2025-11-08T22:12:53.541" v="1134" actId="1076"/>
          <ac:picMkLst>
            <pc:docMk/>
            <pc:sldMk cId="3031978715" sldId="258"/>
            <ac:picMk id="14" creationId="{48EED075-34F5-6A14-CF70-BEEF14C9061C}"/>
          </ac:picMkLst>
        </pc:picChg>
        <pc:picChg chg="add mod">
          <ac:chgData name="Tamim Jaouni" userId="5a1e722342cbadd1" providerId="LiveId" clId="{8276BCC8-02B6-48C6-8F25-7073731F431B}" dt="2025-11-08T22:11:13.705" v="1113" actId="14100"/>
          <ac:picMkLst>
            <pc:docMk/>
            <pc:sldMk cId="3031978715" sldId="258"/>
            <ac:picMk id="18" creationId="{5C6427DF-B774-6762-EC91-8C1B4DE04233}"/>
          </ac:picMkLst>
        </pc:pic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5a1e722342cbadd1/Karriere/Energy%20Trading/Github/Solar/appended_solar-day-ahead-forecast%20(training_data)/appended_solar_complete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5a1e722342cbadd1/Karriere/Energy%20Trading/Github/Solar/appended_solar-day-ahead-forecast%20(training_data)/appended_solar_complete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5a1e722342cbadd1/Karriere/Energy%20Trading/Github/Solar/appended_solar-day-ahead-forecast%20(training_data)/appended_solar_complete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5a1e722342cbadd1/Karriere/Energy%20Trading/Github/Solar/appended_solar-day-ahead-forecast%20(training_data)/appended_solar_complete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US" b="1" dirty="0">
                <a:solidFill>
                  <a:schemeClr val="tx1"/>
                </a:solidFill>
              </a:rPr>
              <a:t>Average Monthly Forecasted Solar</a:t>
            </a:r>
            <a:r>
              <a:rPr lang="en-US" b="1" baseline="0" dirty="0">
                <a:solidFill>
                  <a:schemeClr val="tx1"/>
                </a:solidFill>
              </a:rPr>
              <a:t> per Month (GW)</a:t>
            </a:r>
            <a:r>
              <a:rPr lang="en-US" b="1" dirty="0">
                <a:solidFill>
                  <a:schemeClr val="tx1"/>
                </a:solidFill>
              </a:rPr>
              <a:t> </a:t>
            </a:r>
          </a:p>
        </c:rich>
      </c:tx>
      <c:layout>
        <c:manualLayout>
          <c:xMode val="edge"/>
          <c:yMode val="edge"/>
          <c:x val="0.12864864004655013"/>
          <c:y val="3.2407407407407406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rgbClr val="FFC000"/>
            </a:solidFill>
            <a:ln w="12700">
              <a:solidFill>
                <a:schemeClr val="tx1"/>
              </a:solidFill>
            </a:ln>
            <a:effectLst/>
          </c:spPr>
          <c:invertIfNegative val="0"/>
          <c:cat>
            <c:strRef>
              <c:f>Sheet1!$M$22:$M$33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Sheet1!$N$22:$N$33</c:f>
              <c:numCache>
                <c:formatCode>General</c:formatCode>
                <c:ptCount val="12"/>
                <c:pt idx="0">
                  <c:v>4.0079341397849442</c:v>
                </c:pt>
                <c:pt idx="1">
                  <c:v>4.9602466235632212</c:v>
                </c:pt>
                <c:pt idx="2">
                  <c:v>6.631780955585473</c:v>
                </c:pt>
                <c:pt idx="3">
                  <c:v>8.0252625347222235</c:v>
                </c:pt>
                <c:pt idx="4">
                  <c:v>9.6662953629032256</c:v>
                </c:pt>
                <c:pt idx="5">
                  <c:v>10.779910729166662</c:v>
                </c:pt>
                <c:pt idx="6">
                  <c:v>11.257480645161293</c:v>
                </c:pt>
                <c:pt idx="7">
                  <c:v>10.308508366935481</c:v>
                </c:pt>
                <c:pt idx="8">
                  <c:v>7.7755272916666724</c:v>
                </c:pt>
                <c:pt idx="9">
                  <c:v>5.8603709060402718</c:v>
                </c:pt>
                <c:pt idx="10">
                  <c:v>4.2296026388888901</c:v>
                </c:pt>
                <c:pt idx="11">
                  <c:v>3.8638582325268835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1D6-4806-800A-F796EF34C06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9"/>
        <c:overlap val="-27"/>
        <c:axId val="1279008863"/>
        <c:axId val="1279007423"/>
      </c:barChart>
      <c:catAx>
        <c:axId val="127900886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79007423"/>
        <c:crosses val="autoZero"/>
        <c:auto val="1"/>
        <c:lblAlgn val="ctr"/>
        <c:lblOffset val="100"/>
        <c:noMultiLvlLbl val="0"/>
      </c:catAx>
      <c:valAx>
        <c:axId val="127900742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7900886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GB" b="1" dirty="0">
                <a:solidFill>
                  <a:schemeClr val="tx1"/>
                </a:solidFill>
              </a:rPr>
              <a:t>Average</a:t>
            </a:r>
            <a:r>
              <a:rPr lang="en-GB" b="1" baseline="0" dirty="0">
                <a:solidFill>
                  <a:schemeClr val="tx1"/>
                </a:solidFill>
              </a:rPr>
              <a:t> Daily Forecasted Solar per Year (GW) </a:t>
            </a:r>
            <a:endParaRPr lang="en-US" b="1" dirty="0">
              <a:solidFill>
                <a:schemeClr val="tx1"/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rgbClr val="FFC000">
                <a:alpha val="87000"/>
              </a:srgbClr>
            </a:solidFill>
            <a:ln w="12700">
              <a:solidFill>
                <a:schemeClr val="tx1"/>
              </a:solidFill>
            </a:ln>
            <a:effectLst/>
          </c:spPr>
          <c:invertIfNegative val="0"/>
          <c:cat>
            <c:strRef>
              <c:f>Sheet1!$A$14:$A$19</c:f>
              <c:strCache>
                <c:ptCount val="6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  <c:pt idx="5">
                  <c:v>2024</c:v>
                </c:pt>
              </c:strCache>
            </c:strRef>
          </c:cat>
          <c:val>
            <c:numRef>
              <c:f>Sheet1!$B$14:$B$19</c:f>
              <c:numCache>
                <c:formatCode>General</c:formatCode>
                <c:ptCount val="6"/>
                <c:pt idx="0">
                  <c:v>4.7450976084474741</c:v>
                </c:pt>
                <c:pt idx="1">
                  <c:v>5.2215652777778141</c:v>
                </c:pt>
                <c:pt idx="2">
                  <c:v>5.3303792779680359</c:v>
                </c:pt>
                <c:pt idx="3">
                  <c:v>6.3246221889269227</c:v>
                </c:pt>
                <c:pt idx="4">
                  <c:v>6.3335506735159486</c:v>
                </c:pt>
                <c:pt idx="5">
                  <c:v>7.2885442423725122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A6E-4767-80A9-E61C60836DC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15"/>
        <c:overlap val="-27"/>
        <c:axId val="1301203167"/>
        <c:axId val="1301197887"/>
      </c:barChart>
      <c:catAx>
        <c:axId val="130120316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01197887"/>
        <c:crosses val="autoZero"/>
        <c:auto val="1"/>
        <c:lblAlgn val="ctr"/>
        <c:lblOffset val="100"/>
        <c:noMultiLvlLbl val="0"/>
      </c:catAx>
      <c:valAx>
        <c:axId val="130119788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0120316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b="1" dirty="0">
                <a:solidFill>
                  <a:schemeClr val="tx1"/>
                </a:solidFill>
              </a:rPr>
              <a:t>Day with the Highest Forecasted Solar Generation (GW)</a:t>
            </a:r>
          </a:p>
        </c:rich>
      </c:tx>
      <c:layout>
        <c:manualLayout>
          <c:xMode val="edge"/>
          <c:yMode val="edge"/>
          <c:x val="6.7575856368716603E-2"/>
          <c:y val="2.1648047073422674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areaChart>
        <c:grouping val="stacked"/>
        <c:varyColors val="0"/>
        <c:ser>
          <c:idx val="0"/>
          <c:order val="0"/>
          <c:spPr>
            <a:solidFill>
              <a:srgbClr val="FFC000"/>
            </a:solidFill>
            <a:ln w="12700">
              <a:solidFill>
                <a:schemeClr val="tx1"/>
              </a:solidFill>
            </a:ln>
            <a:effectLst/>
          </c:spPr>
          <c:cat>
            <c:numRef>
              <c:f>Sheet1!$N$102:$N$197</c:f>
              <c:numCache>
                <c:formatCode>[$-10464]hh:mm;@</c:formatCode>
                <c:ptCount val="96"/>
                <c:pt idx="0">
                  <c:v>0</c:v>
                </c:pt>
                <c:pt idx="1">
                  <c:v>1.0416666666666666E-2</c:v>
                </c:pt>
                <c:pt idx="2">
                  <c:v>2.0833333333333332E-2</c:v>
                </c:pt>
                <c:pt idx="3">
                  <c:v>3.125E-2</c:v>
                </c:pt>
                <c:pt idx="4">
                  <c:v>4.1666666666666664E-2</c:v>
                </c:pt>
                <c:pt idx="5">
                  <c:v>5.2083333333333336E-2</c:v>
                </c:pt>
                <c:pt idx="6">
                  <c:v>6.25E-2</c:v>
                </c:pt>
                <c:pt idx="7">
                  <c:v>7.2916666666666671E-2</c:v>
                </c:pt>
                <c:pt idx="8">
                  <c:v>8.3333333333333329E-2</c:v>
                </c:pt>
                <c:pt idx="9">
                  <c:v>9.375E-2</c:v>
                </c:pt>
                <c:pt idx="10">
                  <c:v>0.10416666666666667</c:v>
                </c:pt>
                <c:pt idx="11">
                  <c:v>0.11458333333333333</c:v>
                </c:pt>
                <c:pt idx="12">
                  <c:v>0.125</c:v>
                </c:pt>
                <c:pt idx="13">
                  <c:v>0.13541666666666666</c:v>
                </c:pt>
                <c:pt idx="14">
                  <c:v>0.14583333333333334</c:v>
                </c:pt>
                <c:pt idx="15">
                  <c:v>0.15625</c:v>
                </c:pt>
                <c:pt idx="16">
                  <c:v>0.16666666666666666</c:v>
                </c:pt>
                <c:pt idx="17">
                  <c:v>0.17708333333333334</c:v>
                </c:pt>
                <c:pt idx="18">
                  <c:v>0.1875</c:v>
                </c:pt>
                <c:pt idx="19">
                  <c:v>0.19791666666666666</c:v>
                </c:pt>
                <c:pt idx="20">
                  <c:v>0.20833333333333334</c:v>
                </c:pt>
                <c:pt idx="21">
                  <c:v>0.21875</c:v>
                </c:pt>
                <c:pt idx="22">
                  <c:v>0.22916666666666666</c:v>
                </c:pt>
                <c:pt idx="23">
                  <c:v>0.23958333333333334</c:v>
                </c:pt>
                <c:pt idx="24">
                  <c:v>0.25</c:v>
                </c:pt>
                <c:pt idx="25">
                  <c:v>0.26041666666666669</c:v>
                </c:pt>
                <c:pt idx="26">
                  <c:v>0.27083333333333331</c:v>
                </c:pt>
                <c:pt idx="27">
                  <c:v>0.28125</c:v>
                </c:pt>
                <c:pt idx="28">
                  <c:v>0.29166666666666669</c:v>
                </c:pt>
                <c:pt idx="29">
                  <c:v>0.30208333333333331</c:v>
                </c:pt>
                <c:pt idx="30">
                  <c:v>0.3125</c:v>
                </c:pt>
                <c:pt idx="31">
                  <c:v>0.32291666666666669</c:v>
                </c:pt>
                <c:pt idx="32">
                  <c:v>0.33333333333333331</c:v>
                </c:pt>
                <c:pt idx="33">
                  <c:v>0.34375</c:v>
                </c:pt>
                <c:pt idx="34">
                  <c:v>0.35416666666666669</c:v>
                </c:pt>
                <c:pt idx="35">
                  <c:v>0.36458333333333331</c:v>
                </c:pt>
                <c:pt idx="36">
                  <c:v>0.375</c:v>
                </c:pt>
                <c:pt idx="37">
                  <c:v>0.38541666666666669</c:v>
                </c:pt>
                <c:pt idx="38">
                  <c:v>0.39583333333333331</c:v>
                </c:pt>
                <c:pt idx="39">
                  <c:v>0.40625</c:v>
                </c:pt>
                <c:pt idx="40">
                  <c:v>0.41666666666666669</c:v>
                </c:pt>
                <c:pt idx="41">
                  <c:v>0.42708333333333331</c:v>
                </c:pt>
                <c:pt idx="42">
                  <c:v>0.4375</c:v>
                </c:pt>
                <c:pt idx="43">
                  <c:v>0.44791666666666669</c:v>
                </c:pt>
                <c:pt idx="44">
                  <c:v>0.45833333333333331</c:v>
                </c:pt>
                <c:pt idx="45">
                  <c:v>0.46875</c:v>
                </c:pt>
                <c:pt idx="46">
                  <c:v>0.47916666666666669</c:v>
                </c:pt>
                <c:pt idx="47">
                  <c:v>0.48958333333333331</c:v>
                </c:pt>
                <c:pt idx="48">
                  <c:v>0.5</c:v>
                </c:pt>
                <c:pt idx="49">
                  <c:v>0.51041666666666663</c:v>
                </c:pt>
                <c:pt idx="50">
                  <c:v>0.52083333333333337</c:v>
                </c:pt>
                <c:pt idx="51">
                  <c:v>0.53125</c:v>
                </c:pt>
                <c:pt idx="52">
                  <c:v>0.54166666666666663</c:v>
                </c:pt>
                <c:pt idx="53">
                  <c:v>0.55208333333333337</c:v>
                </c:pt>
                <c:pt idx="54">
                  <c:v>0.5625</c:v>
                </c:pt>
                <c:pt idx="55">
                  <c:v>0.57291666666666663</c:v>
                </c:pt>
                <c:pt idx="56">
                  <c:v>0.58333333333333337</c:v>
                </c:pt>
                <c:pt idx="57">
                  <c:v>0.59375</c:v>
                </c:pt>
                <c:pt idx="58">
                  <c:v>0.60416666666666663</c:v>
                </c:pt>
                <c:pt idx="59">
                  <c:v>0.61458333333333337</c:v>
                </c:pt>
                <c:pt idx="60">
                  <c:v>0.625</c:v>
                </c:pt>
                <c:pt idx="61">
                  <c:v>0.63541666666666663</c:v>
                </c:pt>
                <c:pt idx="62">
                  <c:v>0.64583333333333337</c:v>
                </c:pt>
                <c:pt idx="63">
                  <c:v>0.65625</c:v>
                </c:pt>
                <c:pt idx="64">
                  <c:v>0.66666666666666663</c:v>
                </c:pt>
                <c:pt idx="65">
                  <c:v>0.67708333333333337</c:v>
                </c:pt>
                <c:pt idx="66">
                  <c:v>0.6875</c:v>
                </c:pt>
                <c:pt idx="67">
                  <c:v>0.69791666666666663</c:v>
                </c:pt>
                <c:pt idx="68">
                  <c:v>0.70833333333333337</c:v>
                </c:pt>
                <c:pt idx="69">
                  <c:v>0.71875</c:v>
                </c:pt>
                <c:pt idx="70">
                  <c:v>0.72916666666666663</c:v>
                </c:pt>
                <c:pt idx="71">
                  <c:v>0.73958333333333337</c:v>
                </c:pt>
                <c:pt idx="72">
                  <c:v>0.75</c:v>
                </c:pt>
                <c:pt idx="73">
                  <c:v>0.76041666666666663</c:v>
                </c:pt>
                <c:pt idx="74">
                  <c:v>0.77083333333333337</c:v>
                </c:pt>
                <c:pt idx="75">
                  <c:v>0.78125</c:v>
                </c:pt>
                <c:pt idx="76">
                  <c:v>0.79166666666666663</c:v>
                </c:pt>
                <c:pt idx="77">
                  <c:v>0.80208333333333337</c:v>
                </c:pt>
                <c:pt idx="78">
                  <c:v>0.8125</c:v>
                </c:pt>
                <c:pt idx="79">
                  <c:v>0.82291666666666663</c:v>
                </c:pt>
                <c:pt idx="80">
                  <c:v>0.83333333333333337</c:v>
                </c:pt>
                <c:pt idx="81">
                  <c:v>0.84375</c:v>
                </c:pt>
                <c:pt idx="82">
                  <c:v>0.85416666666666663</c:v>
                </c:pt>
                <c:pt idx="83">
                  <c:v>0.86458333333333337</c:v>
                </c:pt>
                <c:pt idx="84">
                  <c:v>0.875</c:v>
                </c:pt>
                <c:pt idx="85">
                  <c:v>0.88541666666666663</c:v>
                </c:pt>
                <c:pt idx="86">
                  <c:v>0.89583333333333337</c:v>
                </c:pt>
                <c:pt idx="87">
                  <c:v>0.90625</c:v>
                </c:pt>
                <c:pt idx="88">
                  <c:v>0.91666666666666663</c:v>
                </c:pt>
                <c:pt idx="89">
                  <c:v>0.92708333333333337</c:v>
                </c:pt>
                <c:pt idx="90">
                  <c:v>0.9375</c:v>
                </c:pt>
                <c:pt idx="91">
                  <c:v>0.94791666666666663</c:v>
                </c:pt>
                <c:pt idx="92">
                  <c:v>0.95833333333333337</c:v>
                </c:pt>
                <c:pt idx="93">
                  <c:v>0.96875</c:v>
                </c:pt>
                <c:pt idx="94">
                  <c:v>0.97916666666666663</c:v>
                </c:pt>
                <c:pt idx="95">
                  <c:v>0.98958333333333337</c:v>
                </c:pt>
              </c:numCache>
            </c:numRef>
          </c:cat>
          <c:val>
            <c:numRef>
              <c:f>Sheet1!$O$102:$O$197</c:f>
              <c:numCache>
                <c:formatCode>General</c:formatCode>
                <c:ptCount val="9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2.7199999999999998E-2</c:v>
                </c:pt>
                <c:pt idx="16">
                  <c:v>9.9099999999999994E-2</c:v>
                </c:pt>
                <c:pt idx="17">
                  <c:v>0.30830000000000002</c:v>
                </c:pt>
                <c:pt idx="18">
                  <c:v>0.63790000000000002</c:v>
                </c:pt>
                <c:pt idx="19">
                  <c:v>1.1582000000000001</c:v>
                </c:pt>
                <c:pt idx="20">
                  <c:v>2.0135999999999998</c:v>
                </c:pt>
                <c:pt idx="21">
                  <c:v>3.1530999999999998</c:v>
                </c:pt>
                <c:pt idx="22">
                  <c:v>4.4836</c:v>
                </c:pt>
                <c:pt idx="23">
                  <c:v>6.0688999999999993</c:v>
                </c:pt>
                <c:pt idx="24">
                  <c:v>7.9101000000000008</c:v>
                </c:pt>
                <c:pt idx="25">
                  <c:v>10.054</c:v>
                </c:pt>
                <c:pt idx="26">
                  <c:v>12.4064</c:v>
                </c:pt>
                <c:pt idx="27">
                  <c:v>14.9208</c:v>
                </c:pt>
                <c:pt idx="28">
                  <c:v>17.541900000000002</c:v>
                </c:pt>
                <c:pt idx="29">
                  <c:v>20.249599999999997</c:v>
                </c:pt>
                <c:pt idx="30">
                  <c:v>23.0291</c:v>
                </c:pt>
                <c:pt idx="31">
                  <c:v>25.754900000000003</c:v>
                </c:pt>
                <c:pt idx="32">
                  <c:v>28.333299999999998</c:v>
                </c:pt>
                <c:pt idx="33">
                  <c:v>30.8352</c:v>
                </c:pt>
                <c:pt idx="34">
                  <c:v>33.221599999999995</c:v>
                </c:pt>
                <c:pt idx="35">
                  <c:v>35.426099999999998</c:v>
                </c:pt>
                <c:pt idx="36">
                  <c:v>37.436</c:v>
                </c:pt>
                <c:pt idx="37">
                  <c:v>39.270300000000006</c:v>
                </c:pt>
                <c:pt idx="38">
                  <c:v>40.9178</c:v>
                </c:pt>
                <c:pt idx="39">
                  <c:v>42.360699999999994</c:v>
                </c:pt>
                <c:pt idx="40">
                  <c:v>43.593800000000002</c:v>
                </c:pt>
                <c:pt idx="41">
                  <c:v>44.646300000000004</c:v>
                </c:pt>
                <c:pt idx="42">
                  <c:v>45.494199999999999</c:v>
                </c:pt>
                <c:pt idx="43">
                  <c:v>46.159199999999998</c:v>
                </c:pt>
                <c:pt idx="44">
                  <c:v>46.638199999999998</c:v>
                </c:pt>
                <c:pt idx="45">
                  <c:v>46.898600000000002</c:v>
                </c:pt>
                <c:pt idx="46">
                  <c:v>47.063199999999995</c:v>
                </c:pt>
                <c:pt idx="47">
                  <c:v>47.140300000000003</c:v>
                </c:pt>
                <c:pt idx="48">
                  <c:v>47.104800000000004</c:v>
                </c:pt>
                <c:pt idx="49">
                  <c:v>46.926099999999998</c:v>
                </c:pt>
                <c:pt idx="50">
                  <c:v>46.626199999999997</c:v>
                </c:pt>
                <c:pt idx="51">
                  <c:v>46.202199999999998</c:v>
                </c:pt>
                <c:pt idx="52">
                  <c:v>45.644599999999997</c:v>
                </c:pt>
                <c:pt idx="53">
                  <c:v>45.000399999999999</c:v>
                </c:pt>
                <c:pt idx="54">
                  <c:v>44.231900000000003</c:v>
                </c:pt>
                <c:pt idx="55">
                  <c:v>43.315300000000001</c:v>
                </c:pt>
                <c:pt idx="56">
                  <c:v>42.2256</c:v>
                </c:pt>
                <c:pt idx="57">
                  <c:v>40.975699999999996</c:v>
                </c:pt>
                <c:pt idx="58">
                  <c:v>39.579000000000001</c:v>
                </c:pt>
                <c:pt idx="59">
                  <c:v>38.054199999999994</c:v>
                </c:pt>
                <c:pt idx="60">
                  <c:v>36.402200000000001</c:v>
                </c:pt>
                <c:pt idx="61">
                  <c:v>34.616699999999994</c:v>
                </c:pt>
                <c:pt idx="62">
                  <c:v>32.700200000000002</c:v>
                </c:pt>
                <c:pt idx="63">
                  <c:v>30.664999999999999</c:v>
                </c:pt>
                <c:pt idx="64">
                  <c:v>28.413</c:v>
                </c:pt>
                <c:pt idx="65">
                  <c:v>26.102700000000002</c:v>
                </c:pt>
                <c:pt idx="66">
                  <c:v>23.715299999999999</c:v>
                </c:pt>
                <c:pt idx="67">
                  <c:v>21.325800000000001</c:v>
                </c:pt>
                <c:pt idx="68">
                  <c:v>18.958599999999997</c:v>
                </c:pt>
                <c:pt idx="69">
                  <c:v>16.651</c:v>
                </c:pt>
                <c:pt idx="70">
                  <c:v>14.4145</c:v>
                </c:pt>
                <c:pt idx="71">
                  <c:v>12.276200000000001</c:v>
                </c:pt>
                <c:pt idx="72">
                  <c:v>10.287000000000001</c:v>
                </c:pt>
                <c:pt idx="73">
                  <c:v>8.4136000000000006</c:v>
                </c:pt>
                <c:pt idx="74">
                  <c:v>6.7104999999999997</c:v>
                </c:pt>
                <c:pt idx="75">
                  <c:v>5.2371000000000008</c:v>
                </c:pt>
                <c:pt idx="76">
                  <c:v>3.9424000000000001</c:v>
                </c:pt>
                <c:pt idx="77">
                  <c:v>2.6908000000000003</c:v>
                </c:pt>
                <c:pt idx="78">
                  <c:v>1.5845</c:v>
                </c:pt>
                <c:pt idx="79">
                  <c:v>0.72529999999999994</c:v>
                </c:pt>
                <c:pt idx="80">
                  <c:v>0.27779999999999999</c:v>
                </c:pt>
                <c:pt idx="81">
                  <c:v>0.12959999999999999</c:v>
                </c:pt>
                <c:pt idx="82">
                  <c:v>5.9299999999999999E-2</c:v>
                </c:pt>
                <c:pt idx="83">
                  <c:v>2.6600000000000002E-2</c:v>
                </c:pt>
                <c:pt idx="84">
                  <c:v>1.21E-2</c:v>
                </c:pt>
                <c:pt idx="85">
                  <c:v>0</c:v>
                </c:pt>
                <c:pt idx="86">
                  <c:v>0</c:v>
                </c:pt>
                <c:pt idx="87">
                  <c:v>0</c:v>
                </c:pt>
                <c:pt idx="88">
                  <c:v>0</c:v>
                </c:pt>
                <c:pt idx="89">
                  <c:v>0</c:v>
                </c:pt>
                <c:pt idx="90">
                  <c:v>0</c:v>
                </c:pt>
                <c:pt idx="91">
                  <c:v>0</c:v>
                </c:pt>
                <c:pt idx="92">
                  <c:v>0</c:v>
                </c:pt>
                <c:pt idx="93">
                  <c:v>0</c:v>
                </c:pt>
                <c:pt idx="94">
                  <c:v>0</c:v>
                </c:pt>
                <c:pt idx="95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0DC-49B5-860C-DAD651106D4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279026143"/>
        <c:axId val="1279028063"/>
      </c:areaChart>
      <c:catAx>
        <c:axId val="1279026143"/>
        <c:scaling>
          <c:orientation val="minMax"/>
        </c:scaling>
        <c:delete val="0"/>
        <c:axPos val="b"/>
        <c:numFmt formatCode="[$-10464]hh:mm;@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79028063"/>
        <c:crosses val="autoZero"/>
        <c:auto val="1"/>
        <c:lblAlgn val="ctr"/>
        <c:lblOffset val="100"/>
        <c:noMultiLvlLbl val="0"/>
      </c:catAx>
      <c:valAx>
        <c:axId val="127902806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79026143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zero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US" sz="1400" b="1" i="0" u="none" strike="noStrike" kern="1200" spc="0" baseline="0" dirty="0">
                <a:solidFill>
                  <a:schemeClr val="tx1"/>
                </a:solidFill>
              </a:rPr>
              <a:t>Day with the Lowest Forecasted Solar Generation (GW)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5.7503819202805416E-2"/>
          <c:y val="0.16291252405415077"/>
          <c:w val="0.91595507238199136"/>
          <c:h val="0.69618790964462829"/>
        </c:manualLayout>
      </c:layout>
      <c:areaChart>
        <c:grouping val="stacked"/>
        <c:varyColors val="0"/>
        <c:ser>
          <c:idx val="0"/>
          <c:order val="0"/>
          <c:spPr>
            <a:solidFill>
              <a:srgbClr val="FFC000"/>
            </a:solidFill>
            <a:ln>
              <a:solidFill>
                <a:schemeClr val="tx1"/>
              </a:solidFill>
            </a:ln>
            <a:effectLst/>
          </c:spPr>
          <c:cat>
            <c:numRef>
              <c:f>Sheet1!$S$102:$S$197</c:f>
              <c:numCache>
                <c:formatCode>[$-10464]hh:mm;@</c:formatCode>
                <c:ptCount val="96"/>
                <c:pt idx="0">
                  <c:v>0</c:v>
                </c:pt>
                <c:pt idx="1">
                  <c:v>1.0416666666666666E-2</c:v>
                </c:pt>
                <c:pt idx="2">
                  <c:v>2.0833333333333332E-2</c:v>
                </c:pt>
                <c:pt idx="3">
                  <c:v>3.125E-2</c:v>
                </c:pt>
                <c:pt idx="4">
                  <c:v>4.1666666666666664E-2</c:v>
                </c:pt>
                <c:pt idx="5">
                  <c:v>5.2083333333333336E-2</c:v>
                </c:pt>
                <c:pt idx="6">
                  <c:v>6.25E-2</c:v>
                </c:pt>
                <c:pt idx="7">
                  <c:v>7.2916666666666671E-2</c:v>
                </c:pt>
                <c:pt idx="8">
                  <c:v>8.3333333333333329E-2</c:v>
                </c:pt>
                <c:pt idx="9">
                  <c:v>9.375E-2</c:v>
                </c:pt>
                <c:pt idx="10">
                  <c:v>0.10416666666666667</c:v>
                </c:pt>
                <c:pt idx="11">
                  <c:v>0.11458333333333333</c:v>
                </c:pt>
                <c:pt idx="12">
                  <c:v>0.125</c:v>
                </c:pt>
                <c:pt idx="13">
                  <c:v>0.13541666666666666</c:v>
                </c:pt>
                <c:pt idx="14">
                  <c:v>0.14583333333333334</c:v>
                </c:pt>
                <c:pt idx="15">
                  <c:v>0.15625</c:v>
                </c:pt>
                <c:pt idx="16">
                  <c:v>0.16666666666666666</c:v>
                </c:pt>
                <c:pt idx="17">
                  <c:v>0.17708333333333334</c:v>
                </c:pt>
                <c:pt idx="18">
                  <c:v>0.1875</c:v>
                </c:pt>
                <c:pt idx="19">
                  <c:v>0.19791666666666666</c:v>
                </c:pt>
                <c:pt idx="20">
                  <c:v>0.20833333333333334</c:v>
                </c:pt>
                <c:pt idx="21">
                  <c:v>0.21875</c:v>
                </c:pt>
                <c:pt idx="22">
                  <c:v>0.22916666666666666</c:v>
                </c:pt>
                <c:pt idx="23">
                  <c:v>0.23958333333333334</c:v>
                </c:pt>
                <c:pt idx="24">
                  <c:v>0.25</c:v>
                </c:pt>
                <c:pt idx="25">
                  <c:v>0.26041666666666669</c:v>
                </c:pt>
                <c:pt idx="26">
                  <c:v>0.27083333333333331</c:v>
                </c:pt>
                <c:pt idx="27">
                  <c:v>0.28125</c:v>
                </c:pt>
                <c:pt idx="28">
                  <c:v>0.29166666666666669</c:v>
                </c:pt>
                <c:pt idx="29">
                  <c:v>0.30208333333333331</c:v>
                </c:pt>
                <c:pt idx="30">
                  <c:v>0.3125</c:v>
                </c:pt>
                <c:pt idx="31">
                  <c:v>0.32291666666666669</c:v>
                </c:pt>
                <c:pt idx="32">
                  <c:v>0.33333333333333331</c:v>
                </c:pt>
                <c:pt idx="33">
                  <c:v>0.34375</c:v>
                </c:pt>
                <c:pt idx="34">
                  <c:v>0.35416666666666669</c:v>
                </c:pt>
                <c:pt idx="35">
                  <c:v>0.36458333333333331</c:v>
                </c:pt>
                <c:pt idx="36">
                  <c:v>0.375</c:v>
                </c:pt>
                <c:pt idx="37">
                  <c:v>0.38541666666666669</c:v>
                </c:pt>
                <c:pt idx="38">
                  <c:v>0.39583333333333331</c:v>
                </c:pt>
                <c:pt idx="39">
                  <c:v>0.40625</c:v>
                </c:pt>
                <c:pt idx="40">
                  <c:v>0.41666666666666669</c:v>
                </c:pt>
                <c:pt idx="41">
                  <c:v>0.42708333333333331</c:v>
                </c:pt>
                <c:pt idx="42">
                  <c:v>0.4375</c:v>
                </c:pt>
                <c:pt idx="43">
                  <c:v>0.44791666666666669</c:v>
                </c:pt>
                <c:pt idx="44">
                  <c:v>0.45833333333333331</c:v>
                </c:pt>
                <c:pt idx="45">
                  <c:v>0.46875</c:v>
                </c:pt>
                <c:pt idx="46">
                  <c:v>0.47916666666666669</c:v>
                </c:pt>
                <c:pt idx="47">
                  <c:v>0.48958333333333331</c:v>
                </c:pt>
                <c:pt idx="48">
                  <c:v>0.5</c:v>
                </c:pt>
                <c:pt idx="49">
                  <c:v>0.51041666666666663</c:v>
                </c:pt>
                <c:pt idx="50">
                  <c:v>0.52083333333333337</c:v>
                </c:pt>
                <c:pt idx="51">
                  <c:v>0.53125</c:v>
                </c:pt>
                <c:pt idx="52">
                  <c:v>0.54166666666666663</c:v>
                </c:pt>
                <c:pt idx="53">
                  <c:v>0.55208333333333337</c:v>
                </c:pt>
                <c:pt idx="54">
                  <c:v>0.5625</c:v>
                </c:pt>
                <c:pt idx="55">
                  <c:v>0.57291666666666663</c:v>
                </c:pt>
                <c:pt idx="56">
                  <c:v>0.58333333333333337</c:v>
                </c:pt>
                <c:pt idx="57">
                  <c:v>0.59375</c:v>
                </c:pt>
                <c:pt idx="58">
                  <c:v>0.60416666666666663</c:v>
                </c:pt>
                <c:pt idx="59">
                  <c:v>0.61458333333333337</c:v>
                </c:pt>
                <c:pt idx="60">
                  <c:v>0.625</c:v>
                </c:pt>
                <c:pt idx="61">
                  <c:v>0.63541666666666663</c:v>
                </c:pt>
                <c:pt idx="62">
                  <c:v>0.64583333333333337</c:v>
                </c:pt>
                <c:pt idx="63">
                  <c:v>0.65625</c:v>
                </c:pt>
                <c:pt idx="64">
                  <c:v>0.66666666666666663</c:v>
                </c:pt>
                <c:pt idx="65">
                  <c:v>0.67708333333333337</c:v>
                </c:pt>
                <c:pt idx="66">
                  <c:v>0.6875</c:v>
                </c:pt>
                <c:pt idx="67">
                  <c:v>0.69791666666666663</c:v>
                </c:pt>
                <c:pt idx="68">
                  <c:v>0.70833333333333337</c:v>
                </c:pt>
                <c:pt idx="69">
                  <c:v>0.71875</c:v>
                </c:pt>
                <c:pt idx="70">
                  <c:v>0.72916666666666663</c:v>
                </c:pt>
                <c:pt idx="71">
                  <c:v>0.73958333333333337</c:v>
                </c:pt>
                <c:pt idx="72">
                  <c:v>0.75</c:v>
                </c:pt>
                <c:pt idx="73">
                  <c:v>0.76041666666666663</c:v>
                </c:pt>
                <c:pt idx="74">
                  <c:v>0.77083333333333337</c:v>
                </c:pt>
                <c:pt idx="75">
                  <c:v>0.78125</c:v>
                </c:pt>
                <c:pt idx="76">
                  <c:v>0.79166666666666663</c:v>
                </c:pt>
                <c:pt idx="77">
                  <c:v>0.80208333333333337</c:v>
                </c:pt>
                <c:pt idx="78">
                  <c:v>0.8125</c:v>
                </c:pt>
                <c:pt idx="79">
                  <c:v>0.82291666666666663</c:v>
                </c:pt>
                <c:pt idx="80">
                  <c:v>0.83333333333333337</c:v>
                </c:pt>
                <c:pt idx="81">
                  <c:v>0.84375</c:v>
                </c:pt>
                <c:pt idx="82">
                  <c:v>0.85416666666666663</c:v>
                </c:pt>
                <c:pt idx="83">
                  <c:v>0.86458333333333337</c:v>
                </c:pt>
                <c:pt idx="84">
                  <c:v>0.875</c:v>
                </c:pt>
                <c:pt idx="85">
                  <c:v>0.88541666666666663</c:v>
                </c:pt>
                <c:pt idx="86">
                  <c:v>0.89583333333333337</c:v>
                </c:pt>
                <c:pt idx="87">
                  <c:v>0.90625</c:v>
                </c:pt>
                <c:pt idx="88">
                  <c:v>0.91666666666666663</c:v>
                </c:pt>
                <c:pt idx="89">
                  <c:v>0.92708333333333337</c:v>
                </c:pt>
                <c:pt idx="90">
                  <c:v>0.9375</c:v>
                </c:pt>
                <c:pt idx="91">
                  <c:v>0.94791666666666663</c:v>
                </c:pt>
                <c:pt idx="92">
                  <c:v>0.95833333333333337</c:v>
                </c:pt>
                <c:pt idx="93">
                  <c:v>0.96875</c:v>
                </c:pt>
                <c:pt idx="94">
                  <c:v>0.97916666666666663</c:v>
                </c:pt>
                <c:pt idx="95">
                  <c:v>0.98958333333333337</c:v>
                </c:pt>
              </c:numCache>
            </c:numRef>
          </c:cat>
          <c:val>
            <c:numRef>
              <c:f>Sheet1!$T$102:$T$197</c:f>
              <c:numCache>
                <c:formatCode>General</c:formatCode>
                <c:ptCount val="9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5.3E-3</c:v>
                </c:pt>
                <c:pt idx="32">
                  <c:v>2.6100000000000002E-2</c:v>
                </c:pt>
                <c:pt idx="33">
                  <c:v>8.0200000000000007E-2</c:v>
                </c:pt>
                <c:pt idx="34">
                  <c:v>0.14830000000000002</c:v>
                </c:pt>
                <c:pt idx="35">
                  <c:v>0.23250000000000001</c:v>
                </c:pt>
                <c:pt idx="36">
                  <c:v>0.33089999999999997</c:v>
                </c:pt>
                <c:pt idx="37">
                  <c:v>0.4456</c:v>
                </c:pt>
                <c:pt idx="38">
                  <c:v>0.5514</c:v>
                </c:pt>
                <c:pt idx="39">
                  <c:v>0.64470000000000005</c:v>
                </c:pt>
                <c:pt idx="40">
                  <c:v>0.71829999999999994</c:v>
                </c:pt>
                <c:pt idx="41">
                  <c:v>0.79179999999999995</c:v>
                </c:pt>
                <c:pt idx="42">
                  <c:v>0.85260000000000002</c:v>
                </c:pt>
                <c:pt idx="43">
                  <c:v>0.89810000000000001</c:v>
                </c:pt>
                <c:pt idx="44">
                  <c:v>0.93770000000000009</c:v>
                </c:pt>
                <c:pt idx="45">
                  <c:v>0.9768</c:v>
                </c:pt>
                <c:pt idx="46">
                  <c:v>0.999</c:v>
                </c:pt>
                <c:pt idx="47">
                  <c:v>1.0135000000000001</c:v>
                </c:pt>
                <c:pt idx="48">
                  <c:v>1.0116000000000001</c:v>
                </c:pt>
                <c:pt idx="49">
                  <c:v>1.0022</c:v>
                </c:pt>
                <c:pt idx="50">
                  <c:v>0.98020000000000007</c:v>
                </c:pt>
                <c:pt idx="51">
                  <c:v>0.94950000000000001</c:v>
                </c:pt>
                <c:pt idx="52">
                  <c:v>0.90270000000000006</c:v>
                </c:pt>
                <c:pt idx="53">
                  <c:v>0.84339999999999993</c:v>
                </c:pt>
                <c:pt idx="54">
                  <c:v>0.77379999999999993</c:v>
                </c:pt>
                <c:pt idx="55">
                  <c:v>0.70729999999999993</c:v>
                </c:pt>
                <c:pt idx="56">
                  <c:v>0.62050000000000005</c:v>
                </c:pt>
                <c:pt idx="57">
                  <c:v>0.5212</c:v>
                </c:pt>
                <c:pt idx="58">
                  <c:v>0.4234</c:v>
                </c:pt>
                <c:pt idx="59">
                  <c:v>0.32980000000000004</c:v>
                </c:pt>
                <c:pt idx="60">
                  <c:v>0.2457</c:v>
                </c:pt>
                <c:pt idx="61">
                  <c:v>0.17510000000000001</c:v>
                </c:pt>
                <c:pt idx="62">
                  <c:v>0.11370000000000001</c:v>
                </c:pt>
                <c:pt idx="63">
                  <c:v>6.2399999999999997E-2</c:v>
                </c:pt>
                <c:pt idx="64">
                  <c:v>2.4399999999999998E-2</c:v>
                </c:pt>
                <c:pt idx="65">
                  <c:v>6.7000000000000002E-3</c:v>
                </c:pt>
                <c:pt idx="66">
                  <c:v>1E-4</c:v>
                </c:pt>
                <c:pt idx="67">
                  <c:v>0</c:v>
                </c:pt>
                <c:pt idx="68">
                  <c:v>0</c:v>
                </c:pt>
                <c:pt idx="69">
                  <c:v>0</c:v>
                </c:pt>
                <c:pt idx="70">
                  <c:v>0</c:v>
                </c:pt>
                <c:pt idx="71">
                  <c:v>0</c:v>
                </c:pt>
                <c:pt idx="72">
                  <c:v>0</c:v>
                </c:pt>
                <c:pt idx="73">
                  <c:v>0</c:v>
                </c:pt>
                <c:pt idx="74">
                  <c:v>0</c:v>
                </c:pt>
                <c:pt idx="75">
                  <c:v>0</c:v>
                </c:pt>
                <c:pt idx="76">
                  <c:v>0</c:v>
                </c:pt>
                <c:pt idx="77">
                  <c:v>0</c:v>
                </c:pt>
                <c:pt idx="78">
                  <c:v>0</c:v>
                </c:pt>
                <c:pt idx="79">
                  <c:v>0</c:v>
                </c:pt>
                <c:pt idx="80">
                  <c:v>0</c:v>
                </c:pt>
                <c:pt idx="81">
                  <c:v>0</c:v>
                </c:pt>
                <c:pt idx="82">
                  <c:v>0</c:v>
                </c:pt>
                <c:pt idx="83">
                  <c:v>0</c:v>
                </c:pt>
                <c:pt idx="84">
                  <c:v>0</c:v>
                </c:pt>
                <c:pt idx="85">
                  <c:v>0</c:v>
                </c:pt>
                <c:pt idx="86">
                  <c:v>0</c:v>
                </c:pt>
                <c:pt idx="87">
                  <c:v>0</c:v>
                </c:pt>
                <c:pt idx="88">
                  <c:v>0</c:v>
                </c:pt>
                <c:pt idx="89">
                  <c:v>0</c:v>
                </c:pt>
                <c:pt idx="90">
                  <c:v>0</c:v>
                </c:pt>
                <c:pt idx="91">
                  <c:v>0</c:v>
                </c:pt>
                <c:pt idx="92">
                  <c:v>0</c:v>
                </c:pt>
                <c:pt idx="93">
                  <c:v>0</c:v>
                </c:pt>
                <c:pt idx="94">
                  <c:v>0</c:v>
                </c:pt>
                <c:pt idx="95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7D6-43F7-B0C7-8900AF4932D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265918095"/>
        <c:axId val="1265918575"/>
      </c:areaChart>
      <c:catAx>
        <c:axId val="1265918095"/>
        <c:scaling>
          <c:orientation val="minMax"/>
        </c:scaling>
        <c:delete val="0"/>
        <c:axPos val="b"/>
        <c:numFmt formatCode="[$-10464]hh:mm;@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65918575"/>
        <c:crosses val="autoZero"/>
        <c:auto val="1"/>
        <c:lblAlgn val="ctr"/>
        <c:lblOffset val="100"/>
        <c:noMultiLvlLbl val="0"/>
      </c:catAx>
      <c:valAx>
        <c:axId val="126591857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65918095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zero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394A5E-89C0-8F17-6543-D4B85C1EEC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F0CBD5-D6A9-DDDD-C919-661B88EE84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169A6E-55FB-31B0-D507-74BED8E8BC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8C5CCB-847A-4ACA-986A-97B95A09406C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B13D14-B707-F060-3DBA-2976A4B3A1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DF68E3-9007-EF34-4CE2-D7250E7509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5B1DDD-4497-4A3A-8831-8536AF08EE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86019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2C9E45-4353-4EB3-15E5-B562B8F7B4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A1EDC5-680E-7037-C8C4-E662A6834B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FA8FEA-E25D-9E28-7955-5B1926C269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8C5CCB-847A-4ACA-986A-97B95A09406C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5FCFB6-23DD-0AEF-C38F-AD27989F70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80148C-2137-D077-ED81-FE49AE47CD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5B1DDD-4497-4A3A-8831-8536AF08EE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92179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C68D32-28F9-3A24-5ED9-221BA5E017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345B4F-9BB0-BBF5-189A-70F5D158F9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ED9596-9062-38D0-34D5-5E4C63D576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8C5CCB-847A-4ACA-986A-97B95A09406C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EEA0BB-F3C0-6BE6-B327-29030343A6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F41E15-C368-6D51-5089-4E134F8ADF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5B1DDD-4497-4A3A-8831-8536AF08EE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15979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F6A079-6340-D57F-1E0B-7C59183B61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3D4048-D611-0AAA-929E-C2F8BA0F0A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A10CB1-920B-1D85-B1C9-8426888487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CDEA0B-2B9B-30B6-ED4F-A317D1AAAC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8C5CCB-847A-4ACA-986A-97B95A09406C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54379F-BC0C-7A0C-F020-FA565C59B2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5F570F-8A38-E06D-CDDC-9927B63B97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5B1DDD-4497-4A3A-8831-8536AF08EE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31788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20D90B-EC77-62FB-1642-139FD24B7F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D12563-9FB7-DB3F-E082-F492AEC710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566F00-881C-FE05-3050-EC616D3A60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22F3793-A13C-30EE-F409-CBD92560781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3B42818-BDE6-DC61-441A-A0221E368CF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470AE8C-7B55-8F93-615D-AAE16F3141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8C5CCB-847A-4ACA-986A-97B95A09406C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44FA79F-2B61-DA30-92AC-B00A9440C8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96A207-C08C-5A76-0EA0-C16A73E325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5B1DDD-4497-4A3A-8831-8536AF08EE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00743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19AB49-A6A2-02ED-E36E-9F789C0DFD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18D86E2-DF1F-00E1-2929-14050556D4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8C5CCB-847A-4ACA-986A-97B95A09406C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6FC8E6F-3876-1A62-8931-9CDD6EC56F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92C42D1-1B23-8153-31B6-AAAD6C3B03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5B1DDD-4497-4A3A-8831-8536AF08EE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11451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CA7C0E2-54A6-D15A-7540-960AA3896B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8C5CCB-847A-4ACA-986A-97B95A09406C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5A4E0B3-BCEB-EFFD-6610-736174B3FB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3CF1F2-4279-68C8-8805-5881EAA9F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5B1DDD-4497-4A3A-8831-8536AF08EE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7173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0C6043-0F0A-64E9-967B-D0DE694C36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4EF046-85B5-D7B1-A58C-F185FFC411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9E8C18-BE16-7978-7DA0-CEB2FDB454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D2386B-8714-1AFB-C714-86C44A7944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8C5CCB-847A-4ACA-986A-97B95A09406C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854C7E-A6B2-28A2-1820-C9F5655A6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AB2E9B-4867-B328-DBC8-F7B91A1EA6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5B1DDD-4497-4A3A-8831-8536AF08EE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25279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A368EE-7499-9DA2-A877-07EB666F1B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AE78392-DD93-EA10-A199-1D51CE3B7ED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2ACCC9-34D5-71E3-C40A-5285FCA383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D9CA76-94B1-E850-C175-C393DBE86F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8C5CCB-847A-4ACA-986A-97B95A09406C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E194AC-7066-5D5E-C54F-49850EFF77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8CD361-ED6E-1777-EA11-7C5DBCA100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5B1DDD-4497-4A3A-8831-8536AF08EE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35787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ED289D-FAAA-77A7-878B-9BDC69E740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FBFBD5-8962-FFED-F21C-00B22AABE5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9056C4-0129-6525-49AE-0390A242E7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8C5CCB-847A-4ACA-986A-97B95A09406C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6DAD53-30D9-0B68-4D47-AF20A36D35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6BE8C7-6B3C-1ACB-B4E0-F034669CED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5B1DDD-4497-4A3A-8831-8536AF08EE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3521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5F2DA30-EFF3-FA0D-D78E-0AB0C54126F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F2F042-AAD9-4357-FC4B-151123F39E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715F1B-C930-FFC4-B1D4-ACBC097C2C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8C5CCB-847A-4ACA-986A-97B95A09406C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0F966A-F08B-32AC-F0A1-0CA3663BE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E1E75A-3826-B485-BF24-93E5832A1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5B1DDD-4497-4A3A-8831-8536AF08EE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01533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ECEA7A9-C780-F243-B606-E360055868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7DC4A9-6DA7-F917-2F3A-128B36C752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FC8326-BA00-0506-A7BF-681DDD8EE78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B8C5CCB-847A-4ACA-986A-97B95A09406C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42F513-09ED-48E6-1F52-7368B97951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A9A0C2-C997-1BEC-5673-BE33FAABEB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E5B1DDD-4497-4A3A-8831-8536AF08EE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24828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solargis.com/resources/free-maps-and-gis-data?locality=germany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000">
            <a:alpha val="1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60B5E544-0D77-2D7B-7448-E964CD64F476}"/>
              </a:ext>
            </a:extLst>
          </p:cNvPr>
          <p:cNvSpPr/>
          <p:nvPr/>
        </p:nvSpPr>
        <p:spPr>
          <a:xfrm>
            <a:off x="1" y="0"/>
            <a:ext cx="4459859" cy="753504"/>
          </a:xfrm>
          <a:prstGeom prst="rect">
            <a:avLst/>
          </a:prstGeom>
          <a:solidFill>
            <a:srgbClr val="DCEB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8EED075-34F5-6A14-CF70-BEEF14C906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633936"/>
            <a:ext cx="4459861" cy="563718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16C4180-4EF8-B3DD-0E7B-4C4D7229107D}"/>
              </a:ext>
            </a:extLst>
          </p:cNvPr>
          <p:cNvSpPr txBox="1"/>
          <p:nvPr/>
        </p:nvSpPr>
        <p:spPr>
          <a:xfrm>
            <a:off x="848979" y="132302"/>
            <a:ext cx="25652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Irradiation in Germany </a:t>
            </a:r>
            <a:endParaRPr lang="en-US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1FF8FC5-4362-EF6D-3F08-FEB7726F549F}"/>
              </a:ext>
            </a:extLst>
          </p:cNvPr>
          <p:cNvSpPr txBox="1"/>
          <p:nvPr/>
        </p:nvSpPr>
        <p:spPr>
          <a:xfrm>
            <a:off x="7732142" y="105096"/>
            <a:ext cx="15451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 dirty="0"/>
              <a:t>Solar</a:t>
            </a:r>
            <a:endParaRPr lang="en-US" sz="32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6494BD0-0817-2512-EB82-6C808E6A6C3B}"/>
              </a:ext>
            </a:extLst>
          </p:cNvPr>
          <p:cNvSpPr txBox="1"/>
          <p:nvPr/>
        </p:nvSpPr>
        <p:spPr>
          <a:xfrm>
            <a:off x="0" y="5134142"/>
            <a:ext cx="52931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900" dirty="0">
                <a:hlinkClick r:id="rId3"/>
              </a:rPr>
              <a:t>source</a:t>
            </a:r>
            <a:endParaRPr lang="en-US" sz="9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333B521-E3BF-5124-C08A-5D035ADA3278}"/>
              </a:ext>
            </a:extLst>
          </p:cNvPr>
          <p:cNvSpPr txBox="1"/>
          <p:nvPr/>
        </p:nvSpPr>
        <p:spPr>
          <a:xfrm>
            <a:off x="4542504" y="1287386"/>
            <a:ext cx="63083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GB" sz="1600" dirty="0"/>
              <a:t>It therefore makes sense to build out solar farms in the </a:t>
            </a:r>
            <a:r>
              <a:rPr lang="en-GB" sz="1600" b="1" dirty="0"/>
              <a:t>south</a:t>
            </a:r>
            <a:endParaRPr lang="en-US" sz="1600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C7BFB75-5723-497F-CE58-46ED909B7432}"/>
              </a:ext>
            </a:extLst>
          </p:cNvPr>
          <p:cNvSpPr txBox="1"/>
          <p:nvPr/>
        </p:nvSpPr>
        <p:spPr>
          <a:xfrm>
            <a:off x="5024285" y="2464141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b="1" dirty="0"/>
              <a:t>States with largest installed Onshore capacities</a:t>
            </a:r>
            <a:r>
              <a:rPr lang="en-US" sz="2000" b="1" dirty="0"/>
              <a:t>:</a:t>
            </a:r>
            <a:endParaRPr lang="en-GB" sz="2000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846B5C7-F606-DA9C-FB8E-3F4B6A8C4C2D}"/>
              </a:ext>
            </a:extLst>
          </p:cNvPr>
          <p:cNvSpPr txBox="1"/>
          <p:nvPr/>
        </p:nvSpPr>
        <p:spPr>
          <a:xfrm>
            <a:off x="5283119" y="2896627"/>
            <a:ext cx="4827155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/>
              <a:t>Bavaria (Bayern): ~24.5 GW</a:t>
            </a:r>
          </a:p>
          <a:p>
            <a:endParaRPr lang="en-US" sz="14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/>
              <a:t>Lower Saxony (Niedersachsen): ~12.5 GW</a:t>
            </a:r>
          </a:p>
          <a:p>
            <a:endParaRPr lang="en-US" sz="14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/>
              <a:t>North Rhine-Westphalia (Nordrhein-Westfalen): ~9.98 GW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4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5C6427DF-B774-6762-EC91-8C1B4DE042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295947"/>
            <a:ext cx="4542504" cy="562053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A75DBB53-BEB1-C8C0-0FD4-80410F809BA1}"/>
              </a:ext>
            </a:extLst>
          </p:cNvPr>
          <p:cNvSpPr txBox="1"/>
          <p:nvPr/>
        </p:nvSpPr>
        <p:spPr>
          <a:xfrm>
            <a:off x="5024285" y="5057197"/>
            <a:ext cx="10268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b="1" dirty="0"/>
              <a:t>Fun Facts:</a:t>
            </a:r>
            <a:endParaRPr lang="en-US" sz="1400" b="1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2979592-2A9B-3713-0770-B1377727AFF2}"/>
              </a:ext>
            </a:extLst>
          </p:cNvPr>
          <p:cNvSpPr txBox="1"/>
          <p:nvPr/>
        </p:nvSpPr>
        <p:spPr>
          <a:xfrm>
            <a:off x="5213588" y="5385788"/>
            <a:ext cx="697841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In April 2025, solar produced more electricity than any other source in Germany</a:t>
            </a:r>
          </a:p>
          <a:p>
            <a:endParaRPr lang="en-US" sz="8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By 2030, Germany’s solar power capacity is set to reach around 215 GW — surpassing all other energy sources and making solar the nation’s number one in installed capacity.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8876C23-8CE3-BAB2-DF5A-51C0C050D013}"/>
              </a:ext>
            </a:extLst>
          </p:cNvPr>
          <p:cNvSpPr txBox="1"/>
          <p:nvPr/>
        </p:nvSpPr>
        <p:spPr>
          <a:xfrm>
            <a:off x="5024285" y="4190758"/>
            <a:ext cx="623407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As of end-</a:t>
            </a:r>
            <a:r>
              <a:rPr lang="en-US" sz="1400" b="1" dirty="0"/>
              <a:t>2024</a:t>
            </a:r>
            <a:r>
              <a:rPr lang="en-US" sz="1400" dirty="0"/>
              <a:t>, Germany had approximately </a:t>
            </a:r>
            <a:r>
              <a:rPr lang="en-US" sz="1400" b="1" dirty="0"/>
              <a:t>99 GW </a:t>
            </a:r>
            <a:r>
              <a:rPr lang="en-US" sz="1400" dirty="0"/>
              <a:t>of installed solar capacity.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19787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000">
            <a:alpha val="1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29719B3B-26A4-DE27-F5AF-182348E1AA5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3802441"/>
              </p:ext>
            </p:extLst>
          </p:nvPr>
        </p:nvGraphicFramePr>
        <p:xfrm>
          <a:off x="344130" y="3822291"/>
          <a:ext cx="5171766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D8346A23-29A0-307C-86FC-98AC7FBA46C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29648131"/>
              </p:ext>
            </p:extLst>
          </p:nvPr>
        </p:nvGraphicFramePr>
        <p:xfrm>
          <a:off x="422787" y="459659"/>
          <a:ext cx="5093108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0ACEBEB6-0343-97BD-5A75-C61460DB0B8E}"/>
              </a:ext>
            </a:extLst>
          </p:cNvPr>
          <p:cNvSpPr txBox="1"/>
          <p:nvPr/>
        </p:nvSpPr>
        <p:spPr>
          <a:xfrm>
            <a:off x="5702710" y="1319668"/>
            <a:ext cx="648929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Steadily rising forecasted solar generation due to expanding PV capacity.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Signals stronger grid integration of solar power.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Avg. annual solar growth (2019–2024): ~7.5%</a:t>
            </a:r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34C4CA8-47F5-6459-DAA8-61027EDD82D5}"/>
              </a:ext>
            </a:extLst>
          </p:cNvPr>
          <p:cNvSpPr txBox="1"/>
          <p:nvPr/>
        </p:nvSpPr>
        <p:spPr>
          <a:xfrm>
            <a:off x="5732207" y="4522668"/>
            <a:ext cx="586985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Solar generation peaks from May to August, driven by longer daylight hours and higher solar irradiance.</a:t>
            </a:r>
          </a:p>
          <a:p>
            <a:endParaRPr lang="en-US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Output drops sharply in winter months, reflecting Germany’s lower sun angle and shorter days.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F6E4F15-8C98-9B38-22DF-B91C5177A3B5}"/>
              </a:ext>
            </a:extLst>
          </p:cNvPr>
          <p:cNvSpPr txBox="1"/>
          <p:nvPr/>
        </p:nvSpPr>
        <p:spPr>
          <a:xfrm>
            <a:off x="5707624" y="5630041"/>
            <a:ext cx="639096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Gaussian-like yearly solar pattern (base ≈ 4) can be modeled as a triangle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29CC951-7DC7-3EBB-FF5F-A46D2CC47136}"/>
              </a:ext>
            </a:extLst>
          </p:cNvPr>
          <p:cNvCxnSpPr>
            <a:cxnSpLocks/>
          </p:cNvCxnSpPr>
          <p:nvPr/>
        </p:nvCxnSpPr>
        <p:spPr>
          <a:xfrm flipV="1">
            <a:off x="894736" y="4395019"/>
            <a:ext cx="2379407" cy="1235022"/>
          </a:xfrm>
          <a:prstGeom prst="straightConnector1">
            <a:avLst/>
          </a:prstGeom>
          <a:ln>
            <a:solidFill>
              <a:schemeClr val="bg2">
                <a:lumMod val="75000"/>
              </a:schemeClr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DD1274D-8D7C-38AB-74A8-1471906D1647}"/>
              </a:ext>
            </a:extLst>
          </p:cNvPr>
          <p:cNvCxnSpPr>
            <a:cxnSpLocks/>
          </p:cNvCxnSpPr>
          <p:nvPr/>
        </p:nvCxnSpPr>
        <p:spPr>
          <a:xfrm>
            <a:off x="3274143" y="4395019"/>
            <a:ext cx="1868129" cy="1235022"/>
          </a:xfrm>
          <a:prstGeom prst="straightConnector1">
            <a:avLst/>
          </a:prstGeom>
          <a:ln>
            <a:solidFill>
              <a:schemeClr val="bg2">
                <a:lumMod val="75000"/>
              </a:schemeClr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86208B88-7820-5C29-99BC-78682B4D0EEF}"/>
              </a:ext>
            </a:extLst>
          </p:cNvPr>
          <p:cNvCxnSpPr>
            <a:cxnSpLocks/>
          </p:cNvCxnSpPr>
          <p:nvPr/>
        </p:nvCxnSpPr>
        <p:spPr>
          <a:xfrm flipV="1">
            <a:off x="1194619" y="1008879"/>
            <a:ext cx="3795252" cy="621578"/>
          </a:xfrm>
          <a:prstGeom prst="straightConnector1">
            <a:avLst/>
          </a:prstGeom>
          <a:ln>
            <a:solidFill>
              <a:schemeClr val="bg2">
                <a:lumMod val="75000"/>
              </a:schemeClr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3133120F-1B1F-2880-F41B-F6FA9104B292}"/>
              </a:ext>
            </a:extLst>
          </p:cNvPr>
          <p:cNvSpPr txBox="1"/>
          <p:nvPr/>
        </p:nvSpPr>
        <p:spPr>
          <a:xfrm>
            <a:off x="5796114" y="5998750"/>
            <a:ext cx="63024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Gradient Jan–Jul: +1.33 GW/month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Gradient Jul–Dec: −1.6 GW/month</a:t>
            </a:r>
          </a:p>
        </p:txBody>
      </p:sp>
    </p:spTree>
    <p:extLst>
      <p:ext uri="{BB962C8B-B14F-4D97-AF65-F5344CB8AC3E}">
        <p14:creationId xmlns:p14="http://schemas.microsoft.com/office/powerpoint/2010/main" val="26103201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000">
            <a:alpha val="1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5E19F2EB-361D-A235-4EE1-1980A56CC51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24791689"/>
              </p:ext>
            </p:extLst>
          </p:nvPr>
        </p:nvGraphicFramePr>
        <p:xfrm>
          <a:off x="108306" y="74480"/>
          <a:ext cx="5742036" cy="35199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0" name="Chart 9">
            <a:extLst>
              <a:ext uri="{FF2B5EF4-FFF2-40B4-BE49-F238E27FC236}">
                <a16:creationId xmlns:a16="http://schemas.microsoft.com/office/drawing/2014/main" id="{2840C193-E4BC-34E8-F5EA-93628A7AD73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73368159"/>
              </p:ext>
            </p:extLst>
          </p:nvPr>
        </p:nvGraphicFramePr>
        <p:xfrm>
          <a:off x="108306" y="3696930"/>
          <a:ext cx="5742036" cy="296934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DE68CF4A-8303-3B5E-0BF2-0A42CD121534}"/>
              </a:ext>
            </a:extLst>
          </p:cNvPr>
          <p:cNvSpPr txBox="1"/>
          <p:nvPr/>
        </p:nvSpPr>
        <p:spPr>
          <a:xfrm>
            <a:off x="6096000" y="2103452"/>
            <a:ext cx="529958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Daily solar generation follows a normal-like distribution</a:t>
            </a:r>
          </a:p>
          <a:p>
            <a:endParaRPr lang="en-US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Peak output occurs around noon (≈12:00) when solar irradiance is highest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endParaRPr lang="en-US" sz="1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B935025-3B71-AFD8-C09A-7BA404DB93CB}"/>
              </a:ext>
            </a:extLst>
          </p:cNvPr>
          <p:cNvSpPr txBox="1"/>
          <p:nvPr/>
        </p:nvSpPr>
        <p:spPr>
          <a:xfrm>
            <a:off x="6096000" y="1266693"/>
            <a:ext cx="434585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Date:</a:t>
            </a:r>
            <a:r>
              <a:rPr lang="en-US" sz="1200" dirty="0"/>
              <a:t> 25.06.2024 </a:t>
            </a:r>
            <a:r>
              <a:rPr lang="en-US" sz="1200" b="1" dirty="0"/>
              <a:t>Total energy generated:</a:t>
            </a:r>
            <a:r>
              <a:rPr lang="en-US" sz="1200" dirty="0"/>
              <a:t> 1667.5 GWh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5F3707C-267A-27A5-B19F-D787F38F03FF}"/>
              </a:ext>
            </a:extLst>
          </p:cNvPr>
          <p:cNvSpPr txBox="1"/>
          <p:nvPr/>
        </p:nvSpPr>
        <p:spPr>
          <a:xfrm>
            <a:off x="6096000" y="5543516"/>
            <a:ext cx="54520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Narrow curve width reflects limited winter solar hours</a:t>
            </a:r>
          </a:p>
          <a:p>
            <a:endParaRPr lang="en-US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Low peak results from reduced sunlight and lower installed capacity (2019)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8D47964-E2FD-03C2-2649-F80BDE69DA45}"/>
              </a:ext>
            </a:extLst>
          </p:cNvPr>
          <p:cNvSpPr txBox="1"/>
          <p:nvPr/>
        </p:nvSpPr>
        <p:spPr>
          <a:xfrm>
            <a:off x="6096000" y="4561882"/>
            <a:ext cx="37915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/>
              <a:t>Date:</a:t>
            </a:r>
            <a:r>
              <a:rPr lang="en-US" sz="1200" dirty="0"/>
              <a:t> 13.01.2019 </a:t>
            </a:r>
            <a:r>
              <a:rPr lang="en-US" sz="1200" b="1" dirty="0"/>
              <a:t>Total energy generated:</a:t>
            </a:r>
            <a:r>
              <a:rPr lang="en-US" sz="1200" dirty="0"/>
              <a:t> 19.4 GWh</a:t>
            </a:r>
          </a:p>
          <a:p>
            <a:pPr algn="l"/>
            <a:endParaRPr lang="en-US" sz="12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6C845CC-D74D-0415-1609-FCE61478BDFC}"/>
              </a:ext>
            </a:extLst>
          </p:cNvPr>
          <p:cNvSpPr txBox="1"/>
          <p:nvPr/>
        </p:nvSpPr>
        <p:spPr>
          <a:xfrm>
            <a:off x="6341657" y="1588233"/>
            <a:ext cx="574203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Context: Summer day, 2024 — year with the highest installed solar capacity in our 6-year timeframe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2F0DFB3-11B1-6BE3-F40F-2AC8510DDA15}"/>
              </a:ext>
            </a:extLst>
          </p:cNvPr>
          <p:cNvSpPr txBox="1"/>
          <p:nvPr/>
        </p:nvSpPr>
        <p:spPr>
          <a:xfrm>
            <a:off x="6316774" y="4852644"/>
            <a:ext cx="55018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Context</a:t>
            </a:r>
            <a:r>
              <a:rPr lang="en-US" sz="1000" b="1" dirty="0"/>
              <a:t>:</a:t>
            </a:r>
            <a:r>
              <a:rPr lang="en-US" sz="1000" dirty="0"/>
              <a:t> Winter day, 2019 — year with the lowest installed solar capacity in our 6-year timeframe</a:t>
            </a:r>
          </a:p>
          <a:p>
            <a:pPr algn="l"/>
            <a:endParaRPr lang="en-US" sz="1000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DDA933B8-6D77-AAE7-2545-7EA119837FF4}"/>
              </a:ext>
            </a:extLst>
          </p:cNvPr>
          <p:cNvCxnSpPr>
            <a:cxnSpLocks/>
          </p:cNvCxnSpPr>
          <p:nvPr/>
        </p:nvCxnSpPr>
        <p:spPr>
          <a:xfrm>
            <a:off x="1221289" y="3168650"/>
            <a:ext cx="0" cy="3087104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30299460-6308-5904-7A10-E55A74790C40}"/>
              </a:ext>
            </a:extLst>
          </p:cNvPr>
          <p:cNvCxnSpPr>
            <a:cxnSpLocks/>
          </p:cNvCxnSpPr>
          <p:nvPr/>
        </p:nvCxnSpPr>
        <p:spPr>
          <a:xfrm>
            <a:off x="5004619" y="3168650"/>
            <a:ext cx="0" cy="3087104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284488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defRPr sz="1200"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299</TotalTime>
  <Words>342</Words>
  <Application>Microsoft Office PowerPoint</Application>
  <PresentationFormat>Widescreen</PresentationFormat>
  <Paragraphs>41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Aptos</vt:lpstr>
      <vt:lpstr>Aptos Display</vt:lpstr>
      <vt:lpstr>Arial</vt:lpstr>
      <vt:lpstr>Wingdings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Tamim Jaouni</dc:creator>
  <cp:lastModifiedBy>Tamim Jaouni</cp:lastModifiedBy>
  <cp:revision>1</cp:revision>
  <dcterms:created xsi:type="dcterms:W3CDTF">2025-11-07T06:16:44Z</dcterms:created>
  <dcterms:modified xsi:type="dcterms:W3CDTF">2025-11-15T09:32:58Z</dcterms:modified>
</cp:coreProperties>
</file>